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4995A"/>
          </a:solidFill>
          <a:ln w="12700">
            <a:solidFill>
              <a:srgbClr val="D499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8872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7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Café Raíces y Cultura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4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Digital de Comandas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411480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200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diseñada a medida para tu operación diaria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7731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a medida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papel al sistema digital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8449056" cy="27432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5156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51560"/>
            <a:ext cx="109728" cy="1554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61872" y="11612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Comandas digitales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1554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cualquier dispositivo con navegador: celular, tablet o computadora.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36592" y="105156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1051560"/>
            <a:ext cx="109728" cy="1554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50992" y="11612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 y barra al instante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50992" y="15544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enviar el pedido, cocina y barra lo reciben en segundos, sin intermediarios.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278892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788920"/>
            <a:ext cx="109728" cy="1554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61872" y="28986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y rendimiento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61872" y="3291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en tiempo real: ingresos, ticket promedio y desempeño de cada empleado.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36592" y="278892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2788920"/>
            <a:ext cx="109728" cy="1554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50992" y="28986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automático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650992" y="32918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vender un platillo, el sistema descuenta los ingredientes de la receta.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usa el sistema y cómo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8449056" cy="27432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0584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05840"/>
            <a:ext cx="1920240" cy="502920"/>
          </a:xfrm>
          <a:prstGeom prst="rect">
            <a:avLst/>
          </a:prstGeom>
          <a:solidFill>
            <a:srgbClr val="D4995A"/>
          </a:solidFill>
          <a:ln w="12700">
            <a:solidFill>
              <a:srgbClr val="D499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508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🧑‍🍽️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7472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1700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comandas, agrega platillos y bebidas, envía a cocina, marca lo servido y cobra.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05840"/>
            <a:ext cx="192024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508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🍳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6888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78608" y="2670048"/>
            <a:ext cx="1700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los platillos pendientes en tiempo real y marca cada uno cuando está listo.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90288" y="100584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0288" y="1005840"/>
            <a:ext cx="1920240" cy="502920"/>
          </a:xfrm>
          <a:prstGeom prst="rect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1508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🍹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90288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0016" y="2670048"/>
            <a:ext cx="1700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las bebidas pendientes de forma independiente y marca cuando están listas.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11696" y="1005840"/>
            <a:ext cx="1920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11696" y="1005840"/>
            <a:ext cx="1920240" cy="502920"/>
          </a:xfrm>
          <a:prstGeom prst="rect">
            <a:avLst/>
          </a:prstGeom>
          <a:solidFill>
            <a:srgbClr val="5A7A4A"/>
          </a:solidFill>
          <a:ln w="12700">
            <a:solidFill>
              <a:srgbClr val="5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15087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11696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21424" y="2670048"/>
            <a:ext cx="1700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ventas, rendimiento del equipo, menú, inventario y usuarios.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funciona una comanda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8449056" cy="27432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" y="1463040"/>
            <a:ext cx="1207008" cy="1188720"/>
          </a:xfrm>
          <a:prstGeom prst="rect">
            <a:avLst/>
          </a:prstGeom>
          <a:solidFill>
            <a:srgbClr val="D4995A"/>
          </a:solidFill>
          <a:ln w="12700">
            <a:solidFill>
              <a:srgbClr val="D499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1261872"/>
            <a:ext cx="329184" cy="329184"/>
          </a:xfrm>
          <a:prstGeom prst="oval">
            <a:avLst/>
          </a:prstGeom>
          <a:solidFill>
            <a:srgbClr val="F9F4EE"/>
          </a:solidFill>
          <a:ln w="25400">
            <a:solidFill>
              <a:srgbClr val="D499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1554480"/>
            <a:ext cx="1115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cuenta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73352" y="2029968"/>
            <a:ext cx="164592" cy="54864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9928" y="19293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A882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56232" y="1463040"/>
            <a:ext cx="1207008" cy="1188720"/>
          </a:xfrm>
          <a:prstGeom prst="rect">
            <a:avLst/>
          </a:prstGeom>
          <a:solidFill>
            <a:srgbClr val="D4995A"/>
          </a:solidFill>
          <a:ln w="12700">
            <a:solidFill>
              <a:srgbClr val="D499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95144" y="1261872"/>
            <a:ext cx="329184" cy="329184"/>
          </a:xfrm>
          <a:prstGeom prst="oval">
            <a:avLst/>
          </a:prstGeom>
          <a:solidFill>
            <a:srgbClr val="F9F4EE"/>
          </a:solidFill>
          <a:ln w="25400">
            <a:solidFill>
              <a:srgbClr val="D499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95144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01952" y="1554480"/>
            <a:ext cx="1115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platillos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81528" y="2029968"/>
            <a:ext cx="164592" cy="54864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8104" y="19293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A882"/>
                </a:solidFill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4408" y="1463040"/>
            <a:ext cx="1207008" cy="1188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03320" y="1261872"/>
            <a:ext cx="329184" cy="329184"/>
          </a:xfrm>
          <a:prstGeom prst="oval">
            <a:avLst/>
          </a:prstGeom>
          <a:solidFill>
            <a:srgbClr val="F9F4EE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1554480"/>
            <a:ext cx="1115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cocina/barra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9704" y="2029968"/>
            <a:ext cx="164592" cy="54864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9293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A882"/>
                </a:solidFill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72584" y="1463040"/>
            <a:ext cx="1207008" cy="1188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11496" y="1261872"/>
            <a:ext cx="329184" cy="329184"/>
          </a:xfrm>
          <a:prstGeom prst="oval">
            <a:avLst/>
          </a:prstGeom>
          <a:solidFill>
            <a:srgbClr val="F9F4EE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11496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18304" y="1554480"/>
            <a:ext cx="1115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marcan listos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164592" cy="54864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34456" y="19293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A882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1463040"/>
            <a:ext cx="1207008" cy="11887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9672" y="1261872"/>
            <a:ext cx="329184" cy="329184"/>
          </a:xfrm>
          <a:prstGeom prst="oval">
            <a:avLst/>
          </a:prstGeom>
          <a:solidFill>
            <a:srgbClr val="F9F4EE"/>
          </a:solidFill>
          <a:ln w="25400">
            <a:solidFill>
              <a:srgbClr val="4A7C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1554480"/>
            <a:ext cx="1115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06056" y="2029968"/>
            <a:ext cx="164592" cy="54864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42632" y="1929384"/>
            <a:ext cx="164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A882"/>
                </a:solidFill>
              </a:rPr>
              <a:t>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88936" y="1463040"/>
            <a:ext cx="1207008" cy="118872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27848" y="1261872"/>
            <a:ext cx="329184" cy="329184"/>
          </a:xfrm>
          <a:prstGeom prst="oval">
            <a:avLst/>
          </a:prstGeom>
          <a:solidFill>
            <a:srgbClr val="F9F4EE"/>
          </a:solidFill>
          <a:ln w="25400">
            <a:solidFill>
              <a:srgbClr val="2C1A0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27848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34656" y="1554480"/>
            <a:ext cx="1115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cierra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056" y="2971800"/>
            <a:ext cx="2615184" cy="347472"/>
          </a:xfrm>
          <a:prstGeom prst="rect">
            <a:avLst/>
          </a:prstGeom>
          <a:solidFill>
            <a:srgbClr val="D4995A"/>
          </a:solidFill>
          <a:ln w="12700">
            <a:solidFill>
              <a:srgbClr val="D4995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48056" y="297180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Mesero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64408" y="2971800"/>
            <a:ext cx="2615184" cy="34747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264408" y="297180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 / Barra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2971800"/>
            <a:ext cx="2615184" cy="34747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080760" y="2971800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Mesero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47472" y="4617720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ocurre en tiempo real. Cocina y barra ven los pedidos en segundos.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mesero siempre sabe qué está pasando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8449056" cy="27432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170432"/>
            <a:ext cx="320040" cy="320040"/>
          </a:xfrm>
          <a:prstGeom prst="oval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058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preparación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840480" y="102412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ítem fue enviado y cocina o barra lo está preparando.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783080"/>
            <a:ext cx="8449056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2130552"/>
            <a:ext cx="320040" cy="320040"/>
          </a:xfrm>
          <a:prstGeom prst="oval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659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¡Listo para recoger!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0" y="198424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destacado con un botón verde "Servir". La comanda alerta al mesero de inmediato.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2743200"/>
            <a:ext cx="8449056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3090672"/>
            <a:ext cx="320040" cy="320040"/>
          </a:xfrm>
          <a:prstGeom prst="oval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92608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294436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mesero lo entregó a la mesa. Queda en gris al fondo, sin ruido visual para el mesero.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3703320"/>
            <a:ext cx="8449056" cy="18288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4050792"/>
            <a:ext cx="320040" cy="320040"/>
          </a:xfrm>
          <a:prstGeom prst="oval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8620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+15 min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40480" y="3904488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ítem lleva más de 15 minutos en preparación, la comanda parpadea en rojo automáticamente.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4663440"/>
            <a:ext cx="8449056" cy="320040"/>
          </a:xfrm>
          <a:prstGeom prst="rect">
            <a:avLst/>
          </a:prstGeom>
          <a:solidFill>
            <a:srgbClr val="EDE0D4"/>
          </a:solidFill>
          <a:ln w="12700">
            <a:solidFill>
              <a:srgbClr val="EDE0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Los ítems se ordenan automáticamente: primero los listos, después los que aún se preparan, al fondo los ya servidos.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 y barra siempre organizados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8449056" cy="27432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4160520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9601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  Cocina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" y="160020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ve platillos de comida, sin mezclar con bebidas.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267712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un extra (ej. queso extra), indica a qué platillo pertenece.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935224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"Todo listo" para marcar toda la comanda de un golpe.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3602736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pedidos más urgentes aparecen primero.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6592" y="96012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960120"/>
            <a:ext cx="4160520" cy="594360"/>
          </a:xfrm>
          <a:prstGeom prst="rect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9601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🍹  Barra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19472" y="1600200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ve bebidas, con su propio flujo independiente.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2267712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 y barra trabajan en paralelo sin estorbarse.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9472" y="2935224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"Todo listo" igual que en cocina.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9472" y="3602736"/>
            <a:ext cx="3794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"Listos para servir" cuando todas las bebidas están listas.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siempre al alcance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8449056" cy="27432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058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05840"/>
            <a:ext cx="2606040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789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8912" y="16642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totales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05840"/>
            <a:ext cx="2606040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0789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🧾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46120" y="16642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Comandas cerradas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61888" y="10058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61888" y="1005840"/>
            <a:ext cx="2606040" cy="64008"/>
          </a:xfrm>
          <a:prstGeom prst="rect">
            <a:avLst/>
          </a:prstGeom>
          <a:solidFill>
            <a:srgbClr val="D4995A"/>
          </a:solidFill>
          <a:ln w="12700">
            <a:solidFill>
              <a:srgbClr val="D499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61888" y="10789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53328" y="16642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" y="26060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606040"/>
            <a:ext cx="2606040" cy="64008"/>
          </a:xfrm>
          <a:prstGeom prst="rect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6791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38912" y="32644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Desglose por pago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54680" y="26060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606040"/>
            <a:ext cx="2606040" cy="64008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54680" y="26791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246120" y="32644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platillos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61888" y="26060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61888" y="2606040"/>
            <a:ext cx="2606040" cy="64008"/>
          </a:xfrm>
          <a:prstGeom prst="rect">
            <a:avLst/>
          </a:prstGeom>
          <a:solidFill>
            <a:srgbClr val="9A7B65"/>
          </a:solidFill>
          <a:ln w="12700">
            <a:solidFill>
              <a:srgbClr val="9A7B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1888" y="26791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053328" y="32644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con filtros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" y="4645152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disponibles: Hoy · Esta semana · Este mes · Total · Rango personalizado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está rindiendo mi equipo?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8449056" cy="27432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0584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05840"/>
            <a:ext cx="2651760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05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Cocina y Barra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preparación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0574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desde que llega el pedido hasta que se marca listo. Se indica en rojo si supera los 15 minutos.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05840"/>
            <a:ext cx="2651760" cy="548640"/>
          </a:xfrm>
          <a:prstGeom prst="rect">
            <a:avLst/>
          </a:prstGeom>
          <a:solidFill>
            <a:srgbClr val="D4995A"/>
          </a:solidFill>
          <a:ln w="12700">
            <a:solidFill>
              <a:srgbClr val="D499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05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Meseros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49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servicio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0574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dura en promedio una comanda completa: desde que se abre la cuenta hasta que se cobra.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53328" y="100584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53328" y="1005840"/>
            <a:ext cx="2651760" cy="5486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005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 Meseros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44768" y="16002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recogida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20574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tarda el mesero en recoger el platillo o bebida de la estación y llevarlo a la mesa, una vez que está listo.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4315968"/>
            <a:ext cx="8449056" cy="411480"/>
          </a:xfrm>
          <a:prstGeom prst="rect">
            <a:avLst/>
          </a:prstGeom>
          <a:solidFill>
            <a:srgbClr val="F2E6DE"/>
          </a:solidFill>
          <a:ln w="12700">
            <a:solidFill>
              <a:srgbClr val="F2E6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Las tarjetas se resaltan en rojo automáticamente cuando un empleado supera el tiempo promedio aceptable.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56032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inventario se controla solo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8449056" cy="27432"/>
          </a:xfrm>
          <a:prstGeom prst="rect">
            <a:avLst/>
          </a:prstGeom>
          <a:solidFill>
            <a:srgbClr val="E8DDD4"/>
          </a:solidFill>
          <a:ln w="12700">
            <a:solidFill>
              <a:srgbClr val="E8D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058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05840"/>
            <a:ext cx="109728" cy="1600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16152" y="109728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automático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16152" y="1508760"/>
            <a:ext cx="31729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vender un platillo, el sistema descuenta los ingredientes de la receta sin ningún paso manual.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109728" cy="1600200"/>
          </a:xfrm>
          <a:prstGeom prst="rect">
            <a:avLst/>
          </a:prstGeom>
          <a:solidFill>
            <a:srgbClr val="C47A2B"/>
          </a:solidFill>
          <a:ln w="12700">
            <a:solidFill>
              <a:srgbClr val="C47A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1155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🚫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577840" y="109728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stock = sin venta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1508760"/>
            <a:ext cx="31729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ingrediente se agota, el platillo aparece como Sin inventario en la comanda del mesero y no se puede agregar.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7889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2788920"/>
            <a:ext cx="109728" cy="1600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986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↩️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16152" y="288036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Cancelaciones inteligentes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16152" y="3291840"/>
            <a:ext cx="31729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cancela un pedido antes de prepararse, el stock se restaura automáticamente. Si ya fue preparado, se registra como desperdicio.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7889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788920"/>
            <a:ext cx="109728" cy="1600200"/>
          </a:xfrm>
          <a:prstGeom prst="rect">
            <a:avLst/>
          </a:prstGeom>
          <a:solidFill>
            <a:srgbClr val="5B8FA8"/>
          </a:solidFill>
          <a:ln w="12700">
            <a:solidFill>
              <a:srgbClr val="5B8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8986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577840" y="2880360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desde el admin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77840" y="3291840"/>
            <a:ext cx="31729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7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puede ver el stock, ajustarlo manualmente, ver productos por agotarse y registrar proveedores.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4995A"/>
          </a:solidFill>
          <a:ln w="12700">
            <a:solidFill>
              <a:srgbClr val="D499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7315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hecho para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7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Raíces y Cultura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365760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774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Funciona en cualquier dispositivo con navegador: celular, tablet, computadora.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Cada empleado tiene su propia cuenta con acceso según su rol.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C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Tiempo real: cocina, barra y meseros siempre sincronizados.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7731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a medida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Café Raíces y Cultura — Sistema Digital de Comandas</dc:title>
  <dc:subject>PptxGenJS Presentation</dc:subject>
  <dc:creator>PptxGenJS</dc:creator>
  <cp:lastModifiedBy>PptxGenJS</cp:lastModifiedBy>
  <cp:revision>1</cp:revision>
  <dcterms:created xsi:type="dcterms:W3CDTF">2026-03-28T01:48:00Z</dcterms:created>
  <dcterms:modified xsi:type="dcterms:W3CDTF">2026-03-28T01:48:00Z</dcterms:modified>
</cp:coreProperties>
</file>